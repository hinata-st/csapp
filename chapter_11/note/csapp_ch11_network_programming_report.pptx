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8.png"/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_1_network-concepts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1.png"/><Relationship Id="rId2" Type="http://schemas.openxmlformats.org/officeDocument/2006/relationships/image" Target="../media/image_2_image-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.png"/><Relationship Id="rId2" Type="http://schemas.openxmlformats.org/officeDocument/2006/relationships/image" Target="../media/image_2_image-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5.png"/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8.png"/></Relationships>
</file>

<file path=ppt/slides/_rels/slide14.xml.rels><?xml version="1.0" encoding="UTF-8" standalone="yes"?><Relationships xmlns="http://schemas.openxmlformats.org/package/2006/relationships"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_1_image-9.png"/></Relationships>
</file>

<file path=ppt/slides/_rels/slide16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640080"/>
            <a:ext cx="1097280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868680" y="109728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600" b="1">
                <a:solidFill>
                  <a:srgbClr val="172033"/>
                </a:solidFill>
                <a:latin typeface="Microsoft YaHei"/>
                <a:ea typeface="Microsoft YaHei"/>
              </a:rPr>
              <a:t>CSAPP 第 11 章：网络编程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96112" y="196596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2100">
                <a:solidFill>
                  <a:srgbClr val="52627A"/>
                </a:solidFill>
                <a:latin typeface="Microsoft YaHei"/>
                <a:ea typeface="Microsoft YaHei"/>
              </a:rPr>
              <a:t>从客户端-服务器模型到套接字接口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880360"/>
            <a:ext cx="5669280" cy="15087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研究生课程汇报</a:t>
            </a:r>
          </a:p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依据 chapter_11/note/web.md，并参考原书第 11 章已覆盖部分</a:t>
            </a:r>
          </a:p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重点：抽象、协议、系统调用之间的对应关系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560795"/>
            <a:ext cx="4251960" cy="2867729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995160" y="4800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Socket interface 是本章落到程序员视角的核心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汇报路线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把网络编程理解为：进程通信问题在网络系统中的分层实现</a:t>
            </a:r>
          </a:p>
        </p:txBody>
      </p:sp>
      <p:sp>
        <p:nvSpPr>
          <p:cNvPr id="5" name="shape 5"/>
          <p:cNvSpPr/>
          <p:nvPr/>
        </p:nvSpPr>
        <p:spPr>
          <a:xfrm>
            <a:off x="777240" y="1417320"/>
            <a:ext cx="1874519" cy="2560320"/>
          </a:xfrm>
          <a:prstGeom prst="roundRect">
            <a:avLst/>
          </a:prstGeom>
          <a:solidFill>
            <a:srgbClr val="EAF7EF"/>
          </a:solidFill>
          <a:ln w="14000">
            <a:solidFill>
              <a:srgbClr val="2F7D4C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923544" y="1618488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50" b="1">
                <a:solidFill>
                  <a:srgbClr val="172033"/>
                </a:solidFill>
                <a:latin typeface="Microsoft YaHei"/>
                <a:ea typeface="Microsoft YaHei"/>
              </a:rPr>
              <a:t>1. 应用抽象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23544" y="2240280"/>
            <a:ext cx="1572768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客户端-服务器模型：服务、资源、事务</a:t>
            </a:r>
          </a:p>
        </p:txBody>
      </p:sp>
      <p:sp>
        <p:nvSpPr>
          <p:cNvPr id="8" name="shape 8"/>
          <p:cNvSpPr/>
          <p:nvPr/>
        </p:nvSpPr>
        <p:spPr>
          <a:xfrm>
            <a:off x="3017520" y="1417320"/>
            <a:ext cx="1874519" cy="2560320"/>
          </a:xfrm>
          <a:prstGeom prst="roundRect">
            <a:avLst/>
          </a:prstGeom>
          <a:solidFill>
            <a:srgbClr val="EAF2FF"/>
          </a:solidFill>
          <a:ln w="14000">
            <a:solidFill>
              <a:srgbClr val="2D5F9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3163824" y="1618488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50" b="1">
                <a:solidFill>
                  <a:srgbClr val="172033"/>
                </a:solidFill>
                <a:latin typeface="Microsoft YaHei"/>
                <a:ea typeface="Microsoft YaHei"/>
              </a:rPr>
              <a:t>2. 通信介质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163824" y="2240280"/>
            <a:ext cx="1572768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网络作为主机的一种 I/O 设备</a:t>
            </a:r>
          </a:p>
        </p:txBody>
      </p:sp>
      <p:sp>
        <p:nvSpPr>
          <p:cNvPr id="11" name="shape 11"/>
          <p:cNvSpPr/>
          <p:nvPr/>
        </p:nvSpPr>
        <p:spPr>
          <a:xfrm>
            <a:off x="5257800" y="1417320"/>
            <a:ext cx="1874519" cy="2560320"/>
          </a:xfrm>
          <a:prstGeom prst="roundRect">
            <a:avLst/>
          </a:prstGeom>
          <a:solidFill>
            <a:srgbClr val="FFF3DC"/>
          </a:solidFill>
          <a:ln w="14000">
            <a:solidFill>
              <a:srgbClr val="A36C16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5404104" y="1618488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50" b="1">
                <a:solidFill>
                  <a:srgbClr val="172033"/>
                </a:solidFill>
                <a:latin typeface="Microsoft YaHei"/>
                <a:ea typeface="Microsoft YaHei"/>
              </a:rPr>
              <a:t>3. 互联机制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404104" y="2240280"/>
            <a:ext cx="1572768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LAN / WAN 通过路由器组成 internet</a:t>
            </a:r>
          </a:p>
        </p:txBody>
      </p:sp>
      <p:sp>
        <p:nvSpPr>
          <p:cNvPr id="14" name="shape 14"/>
          <p:cNvSpPr/>
          <p:nvPr/>
        </p:nvSpPr>
        <p:spPr>
          <a:xfrm>
            <a:off x="7498080" y="1417320"/>
            <a:ext cx="1874519" cy="2560320"/>
          </a:xfrm>
          <a:prstGeom prst="roundRect">
            <a:avLst/>
          </a:prstGeom>
          <a:solidFill>
            <a:srgbClr val="F1EAFD"/>
          </a:solidFill>
          <a:ln w="14000">
            <a:solidFill>
              <a:srgbClr val="6D4CA5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644384" y="1618488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50" b="1">
                <a:solidFill>
                  <a:srgbClr val="172033"/>
                </a:solidFill>
                <a:latin typeface="Microsoft YaHei"/>
                <a:ea typeface="Microsoft YaHei"/>
              </a:rPr>
              <a:t>4. 全球实现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644384" y="2240280"/>
            <a:ext cx="1572768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IP 地址、域名、TCP/IP 与连接</a:t>
            </a:r>
          </a:p>
        </p:txBody>
      </p:sp>
      <p:sp>
        <p:nvSpPr>
          <p:cNvPr id="17" name="shape 17"/>
          <p:cNvSpPr/>
          <p:nvPr/>
        </p:nvSpPr>
        <p:spPr>
          <a:xfrm>
            <a:off x="9738360" y="1417320"/>
            <a:ext cx="1874519" cy="2560320"/>
          </a:xfrm>
          <a:prstGeom prst="roundRect">
            <a:avLst/>
          </a:prstGeom>
          <a:solidFill>
            <a:srgbClr val="FFECEB"/>
          </a:solidFill>
          <a:ln w="14000">
            <a:solidFill>
              <a:srgbClr val="B0493F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9884664" y="1618488"/>
            <a:ext cx="157276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50" b="1">
                <a:solidFill>
                  <a:srgbClr val="172033"/>
                </a:solidFill>
                <a:latin typeface="Microsoft YaHei"/>
                <a:ea typeface="Microsoft YaHei"/>
              </a:rPr>
              <a:t>5. 编程接口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884664" y="2240280"/>
            <a:ext cx="1572768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socket、connect、bind、listen、accept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005840" y="49377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900" b="1">
                <a:solidFill>
                  <a:srgbClr val="172033"/>
                </a:solidFill>
                <a:latin typeface="Microsoft YaHei"/>
                <a:ea typeface="Microsoft YaHei"/>
              </a:rPr>
              <a:t>主线：应用进程并不直接关心底层链路差异，而是通过统一协议和套接字抽象完成可靠通信。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客户端-服务器编程模型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网络应用的基本组织方式</a:t>
            </a:r>
          </a:p>
        </p:txBody>
      </p:sp>
      <p:sp>
        <p:nvSpPr>
          <p:cNvPr id="5" name="shape 5"/>
          <p:cNvSpPr/>
          <p:nvPr/>
        </p:nvSpPr>
        <p:spPr>
          <a:xfrm>
            <a:off x="731520" y="1417320"/>
            <a:ext cx="3246120" cy="3520440"/>
          </a:xfrm>
          <a:prstGeom prst="roundRect">
            <a:avLst/>
          </a:prstGeom>
          <a:solidFill>
            <a:srgbClr val="EAF2FF"/>
          </a:solidFill>
          <a:ln w="14000">
            <a:solidFill>
              <a:srgbClr val="2D5F9A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896112" y="1563624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服务器进程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1984248"/>
            <a:ext cx="2926079" cy="28346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管理某种资源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被动等待请求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解释请求并产生响应</a:t>
            </a:r>
          </a:p>
        </p:txBody>
      </p:sp>
      <p:sp>
        <p:nvSpPr>
          <p:cNvPr id="8" name="shape 8"/>
          <p:cNvSpPr/>
          <p:nvPr/>
        </p:nvSpPr>
        <p:spPr>
          <a:xfrm>
            <a:off x="8211312" y="1417320"/>
            <a:ext cx="3246120" cy="3520440"/>
          </a:xfrm>
          <a:prstGeom prst="roundRect">
            <a:avLst/>
          </a:prstGeom>
          <a:solidFill>
            <a:srgbClr val="EAF7EF"/>
          </a:solidFill>
          <a:ln w="14000">
            <a:solidFill>
              <a:srgbClr val="2F7D4C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8375904" y="1563624"/>
            <a:ext cx="29169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客户端进程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94192" y="1984248"/>
            <a:ext cx="2926079" cy="28346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主动发起服务请求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等待服务器响应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一次交互构成一个事务</a:t>
            </a:r>
          </a:p>
        </p:txBody>
      </p:sp>
      <p:sp>
        <p:nvSpPr>
          <p:cNvPr id="11" name="shape 11"/>
          <p:cNvSpPr/>
          <p:nvPr/>
        </p:nvSpPr>
        <p:spPr>
          <a:xfrm>
            <a:off x="4526280" y="1783080"/>
            <a:ext cx="3108960" cy="269748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52627A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754880" y="2057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900" b="1">
                <a:solidFill>
                  <a:srgbClr val="172033"/>
                </a:solidFill>
                <a:latin typeface="Microsoft YaHei"/>
                <a:ea typeface="Microsoft YaHei"/>
              </a:rPr>
              <a:t>事务 Transaction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663440" y="269748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请求：client → server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处理：server 操作资源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响应：server → client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005840" y="5504688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650" b="1">
                <a:solidFill>
                  <a:srgbClr val="B0493F"/>
                </a:solidFill>
                <a:latin typeface="Microsoft YaHei"/>
                <a:ea typeface="Microsoft YaHei"/>
              </a:rPr>
              <a:t>注意：客户端和服务器是进程，不是机器。一台主机可同时运行多个客户端和服务器。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网络：主机视角下的 I/O 设备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CSAPP 的切入点是系统编程，而不是从纯网络工程开始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77240" y="1353312"/>
            <a:ext cx="4846320" cy="28346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网络对主机来说是一种数据源和数据接收方</a:t>
            </a:r>
          </a:p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适配器接入 I/O 总线，提供到网络的物理接口</a:t>
            </a:r>
          </a:p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以太网帧包含源地址、目的地址、长度和有效载荷</a:t>
            </a:r>
          </a:p>
          <a:p>
            <a:pPr marL="360000" indent="-210000">
              <a:buChar char="•"/>
            </a:pPr>
            <a:r>
              <a:rPr lang="zh-CN" sz="1750">
                <a:solidFill>
                  <a:srgbClr val="172033"/>
                </a:solidFill>
                <a:latin typeface="Microsoft YaHei"/>
                <a:ea typeface="Microsoft YaHei"/>
              </a:rPr>
              <a:t>所有适配器都能看到帧，但只有目的主机会实际读取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49233"/>
            <a:ext cx="5120640" cy="2045133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FFF3DC"/>
          </a:solidFill>
          <a:ln w="14000">
            <a:solidFill>
              <a:srgbClr val="A36C1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51560" y="513892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650">
                <a:solidFill>
                  <a:srgbClr val="172033"/>
                </a:solidFill>
                <a:latin typeface="Microsoft YaHei"/>
                <a:ea typeface="Microsoft YaHei"/>
              </a:rPr>
              <a:t>汇报抓手：把帧、包、字节流看作不同层次的数据封装，后面 socket 读写的是抽象后的字节流。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LAN、WAN、internet 与 Internet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先区分通用概念，再理解全球 IP 因特网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10835640" cy="452628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822960" y="5715000"/>
            <a:ext cx="1042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 b="1">
                <a:solidFill>
                  <a:srgbClr val="B0493F"/>
                </a:solidFill>
                <a:latin typeface="Microsoft YaHei"/>
                <a:ea typeface="Microsoft YaHei"/>
              </a:rPr>
              <a:t>小写 internet 是互联网络的通用概念；大写 Internet/全球 IP 因特网是基于 TCP/IP 的具体实现。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从以太网段到桥接以太网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局域网内部的扩展：从一个段到多个段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77240" y="1234440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2F7D4C"/>
                </a:solidFill>
                <a:latin typeface="Microsoft YaHei"/>
                <a:ea typeface="Microsoft YaHei"/>
              </a:rPr>
              <a:t>以太网段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37213"/>
            <a:ext cx="4937760" cy="1972093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5989320" y="1234440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2D5F9A"/>
                </a:solidFill>
                <a:latin typeface="Microsoft YaHei"/>
                <a:ea typeface="Microsoft YaHei"/>
              </a:rPr>
              <a:t>桥接以太网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56721"/>
            <a:ext cx="4937760" cy="2733077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914400" y="5138928"/>
            <a:ext cx="10058400" cy="713232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650">
                <a:solidFill>
                  <a:srgbClr val="172033"/>
                </a:solidFill>
                <a:latin typeface="Microsoft YaHei"/>
                <a:ea typeface="Microsoft YaHei"/>
              </a:rPr>
              <a:t>网桥把多个以太网段连接成更大的局域网；路由器进一步把不同 LAN/WAN 连接成互联网络。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路由器与互联网络的关键思想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不同链路技术的差异被统一协议隐藏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25865"/>
            <a:ext cx="4983480" cy="115470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45938"/>
            <a:ext cx="4892040" cy="2914563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68680" y="4800600"/>
            <a:ext cx="5166360" cy="9144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路由器为其连接的每个网络配置适配器/端口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互联网络可以由不同、不兼容的 LAN 和 WAN 组成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217920" y="480060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命名机制：每台主机至少有一个互联网络地址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传送机制：把数据封装成统一格式的包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全球 IP 因特网：程序员视角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TCP/IP 将全球主机集合抽象为可寻址、可连接的系统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921"/>
            <a:ext cx="4983480" cy="2532037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080760" y="1234440"/>
            <a:ext cx="5074920" cy="3429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D5F9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263640" y="1508760"/>
            <a:ext cx="4663440" cy="20574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IP：提供基本命名方法和递送机制</a:t>
            </a:r>
          </a:p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TCP：构建在 IP 之上，提供可靠全双工连接</a:t>
            </a:r>
          </a:p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socket + Unix I/O：应用程序使用的通信接口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355080" y="3977639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B0493F"/>
                </a:solidFill>
                <a:latin typeface="Microsoft YaHei"/>
                <a:ea typeface="Microsoft YaHei"/>
              </a:rPr>
              <a:t>IP 地址 → 域名 → 进程间连接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53035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600">
                <a:solidFill>
                  <a:srgbClr val="52627A"/>
                </a:solidFill>
                <a:latin typeface="Microsoft YaHei"/>
                <a:ea typeface="Microsoft YaHei"/>
              </a:rPr>
              <a:t>研究生汇报时可强调：CSAPP 关注的是系统调用如何把网络协议族暴露给 C 程序。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IP 地址与网络字节序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跨主机通信必须处理表示差异</a:t>
            </a:r>
          </a:p>
        </p:txBody>
      </p:sp>
      <p:sp>
        <p:nvSpPr>
          <p:cNvPr id="5" name="shape 5"/>
          <p:cNvSpPr/>
          <p:nvPr/>
        </p:nvSpPr>
        <p:spPr>
          <a:xfrm>
            <a:off x="822960" y="1234440"/>
            <a:ext cx="5303520" cy="43434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F7D4C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51560" y="150876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核心结构与转换函数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51560" y="2057400"/>
            <a:ext cx="4892040" cy="2468880"/>
          </a:xfrm>
          <a:prstGeom prst="rect">
            <a:avLst/>
          </a:prstGeom>
          <a:noFill/>
          <a:ln>
            <a:noFill/>
          </a:ln>
        </p:spPr>
        <p:txBody>
          <a:bodyPr wrap="square" lIns="80000" tIns="80000" rIns="80000" bIns="80000"/>
          <a:lstStyle/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struct in_addr {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    uint32_t s_addr;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};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/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uint32_t htonl(uint32_t hostlong);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uint16_t htons(uint16_t hostshort);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uint32_t ntohl(uint32_t netlong);</a:t>
            </a:r>
          </a:p>
          <a:p>
            <a:pPr>
              <a:buNone/>
            </a:pPr>
            <a:r>
              <a:rPr lang="zh-CN" sz="1280">
                <a:solidFill>
                  <a:srgbClr val="172033"/>
                </a:solidFill>
                <a:latin typeface="Cascadia Mono"/>
                <a:ea typeface="Cascadia Mono"/>
              </a:rPr>
              <a:t>uint16_t ntohs(uint16_t netshort);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34440"/>
            <a:ext cx="4800600" cy="4343400"/>
          </a:xfrm>
          <a:prstGeom prst="roundRect">
            <a:avLst/>
          </a:prstGeom>
          <a:solidFill>
            <a:srgbClr val="FFF3DC"/>
          </a:solidFill>
          <a:ln w="14000">
            <a:solidFill>
              <a:srgbClr val="A36C16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675120" y="1600200"/>
            <a:ext cx="4434840" cy="192024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TCP/IP 规定网络字节序为大端法</a:t>
            </a:r>
          </a:p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IP 地址结构中存放的地址总是网络字节序</a:t>
            </a:r>
          </a:p>
          <a:p>
            <a:pPr marL="360000" indent="-210000">
              <a:buChar char="•"/>
            </a:pPr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主机字节序可能不同，因此需要 hton/ntoh 系列函数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720840" y="4389120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2200" b="1">
                <a:solidFill>
                  <a:srgbClr val="B0493F"/>
                </a:solidFill>
                <a:latin typeface="Microsoft YaHei"/>
                <a:ea typeface="Microsoft YaHei"/>
              </a:rPr>
              <a:t>host ↔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点分十进制与地址转换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让二进制地址在人类可读表示和网络表示之间转换</a:t>
            </a:r>
          </a:p>
        </p:txBody>
      </p:sp>
      <p:sp>
        <p:nvSpPr>
          <p:cNvPr id="5" name="shape 5"/>
          <p:cNvSpPr/>
          <p:nvPr/>
        </p:nvSpPr>
        <p:spPr>
          <a:xfrm>
            <a:off x="731520" y="1298448"/>
            <a:ext cx="4892040" cy="338328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D5F9A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05840" y="1691640"/>
            <a:ext cx="4389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2100" b="1">
                <a:solidFill>
                  <a:srgbClr val="172033"/>
                </a:solidFill>
                <a:latin typeface="Microsoft YaHei"/>
                <a:ea typeface="Microsoft YaHei"/>
              </a:rPr>
              <a:t>128.2.194.242</a:t>
            </a:r>
          </a:p>
          <a:p>
            <a:pPr>
              <a:buNone/>
            </a:pPr>
            <a:r>
              <a:rPr lang="zh-CN" sz="2100" b="1">
                <a:solidFill>
                  <a:srgbClr val="172033"/>
                </a:solidFill>
                <a:latin typeface="Microsoft YaHei"/>
                <a:ea typeface="Microsoft YaHei"/>
              </a:rPr>
              <a:t>=</a:t>
            </a:r>
          </a:p>
          <a:p>
            <a:pPr>
              <a:buNone/>
            </a:pPr>
            <a:r>
              <a:rPr lang="zh-CN" sz="2100" b="1">
                <a:solidFill>
                  <a:srgbClr val="172033"/>
                </a:solidFill>
                <a:latin typeface="Microsoft YaHei"/>
                <a:ea typeface="Microsoft YaHei"/>
              </a:rPr>
              <a:t>0x80 0x02 0xC2 0xF2</a:t>
            </a:r>
          </a:p>
          <a:p>
            <a:pPr>
              <a:buNone/>
            </a:pPr>
            <a:r>
              <a:rPr lang="zh-CN" sz="2100" b="1">
                <a:solidFill>
                  <a:srgbClr val="172033"/>
                </a:solidFill>
                <a:latin typeface="Microsoft YaHei"/>
                <a:ea typeface="Microsoft YaHei"/>
              </a:rPr>
              <a:t>=</a:t>
            </a:r>
          </a:p>
          <a:p>
            <a:pPr>
              <a:buNone/>
            </a:pPr>
            <a:r>
              <a:rPr lang="zh-CN" sz="2100" b="1">
                <a:solidFill>
                  <a:srgbClr val="172033"/>
                </a:solidFill>
                <a:latin typeface="Microsoft YaHei"/>
                <a:ea typeface="Microsoft YaHei"/>
              </a:rPr>
              <a:t>0x8002C2F2</a:t>
            </a:r>
          </a:p>
        </p:txBody>
      </p:sp>
      <p:sp>
        <p:nvSpPr>
          <p:cNvPr id="7" name="shape 7"/>
          <p:cNvSpPr/>
          <p:nvPr/>
        </p:nvSpPr>
        <p:spPr>
          <a:xfrm>
            <a:off x="6080760" y="1298448"/>
            <a:ext cx="5166360" cy="3383280"/>
          </a:xfrm>
          <a:prstGeom prst="roundRect">
            <a:avLst/>
          </a:prstGeom>
          <a:solidFill>
            <a:srgbClr val="EAF2FF"/>
          </a:solidFill>
          <a:ln w="14000">
            <a:solidFill>
              <a:srgbClr val="2D5F9A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355080" y="1627632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应用程序 API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60" y="2148840"/>
            <a:ext cx="4572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inet_pton：文本表示 → 二进制网络字节序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inet_ntop：二进制网络字节序 → 文本表示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4400" y="5230368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50">
                <a:solidFill>
                  <a:srgbClr val="52627A"/>
                </a:solidFill>
                <a:latin typeface="Microsoft YaHei"/>
                <a:ea typeface="Microsoft YaHei"/>
              </a:rPr>
              <a:t>汇报建议：这里可以现场解释 p= presentation，n=network，帮助听众记忆函数名。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域名与 DNS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名字系统把人类可读标识符映射到 IP 地址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66565"/>
            <a:ext cx="5715000" cy="3130509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812280" y="1371600"/>
            <a:ext cx="4251960" cy="352044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6D4CA5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995160" y="1691640"/>
            <a:ext cx="3886200" cy="1828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客户端和服务器实际通信使用 IP 地址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域名提供更友好的标识符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DNS 是维护域名到 IP 映射的分布式数据库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localhost 固定映射到回送地址 127.0.0.1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8680" y="5440680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50" b="1">
                <a:solidFill>
                  <a:srgbClr val="B0493F"/>
                </a:solidFill>
                <a:latin typeface="Microsoft YaHei"/>
                <a:ea typeface="Microsoft YaHei"/>
              </a:rPr>
              <a:t>从程序员视角：域名解析是建立连接前把“名字”转换成“可路由地址”的步骤。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因特网连接与套接字对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连接把两个进程端点组织成可靠的全双工字节流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06181"/>
            <a:ext cx="5669280" cy="1459252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720840" y="1325880"/>
            <a:ext cx="4526280" cy="3429000"/>
          </a:xfrm>
          <a:prstGeom prst="roundRect">
            <a:avLst/>
          </a:prstGeom>
          <a:solidFill>
            <a:srgbClr val="EAF7EF"/>
          </a:solidFill>
          <a:ln w="14000">
            <a:solidFill>
              <a:srgbClr val="2F7D4C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903720" y="1645920"/>
            <a:ext cx="41605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连接是点对点的：连接一对进程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连接是全双工的：数据可双向同时流动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socket 是连接的端点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995160" y="3977639"/>
            <a:ext cx="374903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350" b="1">
                <a:solidFill>
                  <a:srgbClr val="B0493F"/>
                </a:solidFill>
                <a:latin typeface="Cascadia Mono"/>
                <a:ea typeface="Cascadia Mono"/>
              </a:rPr>
              <a:t>(cliaddr:cliport, servaddr:servport)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50">
                <a:solidFill>
                  <a:srgbClr val="52627A"/>
                </a:solidFill>
                <a:latin typeface="Microsoft YaHei"/>
                <a:ea typeface="Microsoft YaHei"/>
              </a:rPr>
              <a:t>临时端口由内核分配；服务器端口通常是服务约定的知名端口，例如 Web 服务的 80。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套接字接口：从抽象到系统调用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客户端和服务器通过不同的调用序列建立连接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71460"/>
            <a:ext cx="5669280" cy="3823638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720840" y="1234440"/>
            <a:ext cx="4526280" cy="43434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D5F9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995160" y="155448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00" b="1">
                <a:solidFill>
                  <a:srgbClr val="2F7D4C"/>
                </a:solidFill>
                <a:latin typeface="Microsoft YaHei"/>
                <a:ea typeface="Microsoft YaHei"/>
              </a:rPr>
              <a:t>客户端路径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967728" y="19659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socket：创建主动套接字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connect：连接服务器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95160" y="2971800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700" b="1">
                <a:solidFill>
                  <a:srgbClr val="A36C16"/>
                </a:solidFill>
                <a:latin typeface="Microsoft YaHei"/>
                <a:ea typeface="Microsoft YaHei"/>
              </a:rPr>
              <a:t>服务器路径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67728" y="3383280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socket：创建描述符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bind：绑定服务器地址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listen：转为监听套接字</a:t>
            </a:r>
          </a:p>
          <a:p>
            <a:pPr marL="360000" indent="-210000">
              <a:buChar char="•"/>
            </a:pPr>
            <a:r>
              <a:rPr lang="zh-CN" sz="1500">
                <a:solidFill>
                  <a:srgbClr val="172033"/>
                </a:solidFill>
                <a:latin typeface="Microsoft YaHei"/>
                <a:ea typeface="Microsoft YaHei"/>
              </a:rPr>
              <a:t>accept：返回已连接描述符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套接字地址结构与端点语义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Linux 中 socket 既是通信端点，也是一个描述符</a:t>
            </a:r>
          </a:p>
        </p:txBody>
      </p:sp>
      <p:sp>
        <p:nvSpPr>
          <p:cNvPr id="5" name="shape 5"/>
          <p:cNvSpPr/>
          <p:nvPr/>
        </p:nvSpPr>
        <p:spPr>
          <a:xfrm>
            <a:off x="777240" y="1234440"/>
            <a:ext cx="5440680" cy="443484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F7D4C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05840" y="1508760"/>
            <a:ext cx="4937760" cy="3383280"/>
          </a:xfrm>
          <a:prstGeom prst="rect">
            <a:avLst/>
          </a:prstGeom>
          <a:noFill/>
          <a:ln>
            <a:noFill/>
          </a:ln>
        </p:spPr>
        <p:txBody>
          <a:bodyPr wrap="square" lIns="80000" tIns="80000" rIns="80000" bIns="80000"/>
          <a:lstStyle/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struct sockaddr_in {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sa_family_t sin_family;  // AF_INET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in_port_t sin_port;      // 16-bit port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struct in_addr sin_addr; // 32-bit IP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char sin_zero[8];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};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/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struct sockaddr {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sa_family_t sa_family;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    char sa_data[14];</a:t>
            </a:r>
          </a:p>
          <a:p>
            <a:pPr>
              <a:buNone/>
            </a:pPr>
            <a:r>
              <a:rPr lang="zh-CN" sz="1220">
                <a:solidFill>
                  <a:srgbClr val="172033"/>
                </a:solidFill>
                <a:latin typeface="Cascadia Mono"/>
                <a:ea typeface="Cascadia Mono"/>
              </a:rPr>
              <a:t>};</a:t>
            </a:r>
          </a:p>
        </p:txBody>
      </p:sp>
      <p:sp>
        <p:nvSpPr>
          <p:cNvPr id="7" name="shape 7"/>
          <p:cNvSpPr/>
          <p:nvPr/>
        </p:nvSpPr>
        <p:spPr>
          <a:xfrm>
            <a:off x="6629400" y="1234440"/>
            <a:ext cx="4572000" cy="4434840"/>
          </a:xfrm>
          <a:prstGeom prst="roundRect">
            <a:avLst/>
          </a:prstGeom>
          <a:solidFill>
            <a:srgbClr val="FFECEB"/>
          </a:solidFill>
          <a:ln w="14000">
            <a:solidFill>
              <a:srgbClr val="B0493F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812280" y="1600200"/>
            <a:ext cx="4206240" cy="233172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sockaddr_in 是 IPv4 套接字地址结构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sockaddr 是通用地址结构，供 socket API 统一接收</a:t>
            </a:r>
          </a:p>
          <a:p>
            <a:pPr marL="360000" indent="-210000">
              <a:buChar char="•"/>
            </a:pPr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IP 地址和端口号总是按网络字节序存放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03720" y="4572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600" b="1">
                <a:solidFill>
                  <a:srgbClr val="172033"/>
                </a:solidFill>
                <a:latin typeface="Microsoft YaHei"/>
                <a:ea typeface="Microsoft YaHei"/>
              </a:rPr>
              <a:t>类型专用结构 → 通用接口参数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listen / accept：两个描述符的区别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很多初学者容易把监听描述符和已连接描述符混在一起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3070"/>
            <a:ext cx="5349240" cy="2538122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537960" y="1353312"/>
            <a:ext cx="4526280" cy="1508760"/>
          </a:xfrm>
          <a:prstGeom prst="roundRect">
            <a:avLst/>
          </a:prstGeom>
          <a:solidFill>
            <a:srgbClr val="EAF2FF"/>
          </a:solidFill>
          <a:ln w="14000">
            <a:solidFill>
              <a:srgbClr val="2D5F9A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6702552" y="1499616"/>
            <a:ext cx="419709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监听描述符 listenfd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720840" y="1920240"/>
            <a:ext cx="4206240" cy="822959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服务器整个生命周期通常只创建一次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用于接收客户端连接请求</a:t>
            </a:r>
          </a:p>
        </p:txBody>
      </p:sp>
      <p:sp>
        <p:nvSpPr>
          <p:cNvPr id="9" name="shape 9"/>
          <p:cNvSpPr/>
          <p:nvPr/>
        </p:nvSpPr>
        <p:spPr>
          <a:xfrm>
            <a:off x="6537960" y="3246120"/>
            <a:ext cx="4526280" cy="1600200"/>
          </a:xfrm>
          <a:prstGeom prst="roundRect">
            <a:avLst/>
          </a:prstGeom>
          <a:solidFill>
            <a:srgbClr val="EAF7EF"/>
          </a:solidFill>
          <a:ln w="14000">
            <a:solidFill>
              <a:srgbClr val="2F7D4C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6702552" y="3392424"/>
            <a:ext cx="419709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已连接描述符 connfd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720840" y="3813048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accept 每接收一个连接创建一次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只在服务某个客户端期间存在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720840" y="5349240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 b="1">
                <a:solidFill>
                  <a:srgbClr val="B0493F"/>
                </a:solidFill>
                <a:latin typeface="Microsoft YaHei"/>
                <a:ea typeface="Microsoft YaHei"/>
              </a:rPr>
              <a:t>accept 的返回值是之后读写该客户端的端点。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总结：本章已覆盖部分的三层理解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30352" y="777240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500">
                <a:solidFill>
                  <a:srgbClr val="52627A"/>
                </a:solidFill>
                <a:latin typeface="Microsoft YaHei"/>
                <a:ea typeface="Microsoft YaHei"/>
              </a:rPr>
              <a:t>面向汇报答辩的收束</a:t>
            </a:r>
          </a:p>
        </p:txBody>
      </p:sp>
      <p:sp>
        <p:nvSpPr>
          <p:cNvPr id="5" name="shape 5"/>
          <p:cNvSpPr/>
          <p:nvPr/>
        </p:nvSpPr>
        <p:spPr>
          <a:xfrm>
            <a:off x="777240" y="1325880"/>
            <a:ext cx="3337560" cy="3200400"/>
          </a:xfrm>
          <a:prstGeom prst="roundRect">
            <a:avLst/>
          </a:prstGeom>
          <a:solidFill>
            <a:srgbClr val="EAF7EF"/>
          </a:solidFill>
          <a:ln w="14000">
            <a:solidFill>
              <a:srgbClr val="2F7D4C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941832" y="1472184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概念层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60120" y="1892807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客户端-服务器模型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事务、资源、进程角色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网络是 I/O 设备</a:t>
            </a:r>
          </a:p>
        </p:txBody>
      </p:sp>
      <p:sp>
        <p:nvSpPr>
          <p:cNvPr id="8" name="shape 8"/>
          <p:cNvSpPr/>
          <p:nvPr/>
        </p:nvSpPr>
        <p:spPr>
          <a:xfrm>
            <a:off x="4434840" y="1325880"/>
            <a:ext cx="3337560" cy="3200400"/>
          </a:xfrm>
          <a:prstGeom prst="roundRect">
            <a:avLst/>
          </a:prstGeom>
          <a:solidFill>
            <a:srgbClr val="EAF2FF"/>
          </a:solidFill>
          <a:ln w="14000">
            <a:solidFill>
              <a:srgbClr val="2D5F9A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4599431" y="1472184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协议层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617720" y="1892807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LAN/WAN/internet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IP 命名与递送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TCP 可靠全双工连接</a:t>
            </a:r>
          </a:p>
        </p:txBody>
      </p:sp>
      <p:sp>
        <p:nvSpPr>
          <p:cNvPr id="11" name="shape 11"/>
          <p:cNvSpPr/>
          <p:nvPr/>
        </p:nvSpPr>
        <p:spPr>
          <a:xfrm>
            <a:off x="8092440" y="1325880"/>
            <a:ext cx="3337560" cy="3200400"/>
          </a:xfrm>
          <a:prstGeom prst="roundRect">
            <a:avLst/>
          </a:prstGeom>
          <a:solidFill>
            <a:srgbClr val="FFF3DC"/>
          </a:solidFill>
          <a:ln w="14000">
            <a:solidFill>
              <a:srgbClr val="A36C16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8257031" y="1472184"/>
            <a:ext cx="300837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接口层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275319" y="1892807"/>
            <a:ext cx="3017520" cy="2514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90000"/>
          <a:lstStyle/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套接字地址结构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客户端 connect</a:t>
            </a:r>
          </a:p>
          <a:p>
            <a:pPr marL="360000" indent="-210000">
              <a:buChar char="•"/>
            </a:pPr>
            <a:r>
              <a:rPr lang="zh-CN" sz="1450">
                <a:solidFill>
                  <a:srgbClr val="172033"/>
                </a:solidFill>
                <a:latin typeface="Microsoft YaHei"/>
                <a:ea typeface="Microsoft YaHei"/>
              </a:rPr>
              <a:t>服务器 bind/listen/accept</a:t>
            </a:r>
          </a:p>
        </p:txBody>
      </p:sp>
      <p:sp>
        <p:nvSpPr>
          <p:cNvPr id="14" name="shape 14"/>
          <p:cNvSpPr/>
          <p:nvPr/>
        </p:nvSpPr>
        <p:spPr>
          <a:xfrm>
            <a:off x="1005840" y="5074920"/>
            <a:ext cx="10149840" cy="74980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B0493F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1234440" y="5257800"/>
            <a:ext cx="96926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None/>
            </a:pPr>
            <a:r>
              <a:rPr lang="zh-CN" sz="1650" b="1">
                <a:solidFill>
                  <a:srgbClr val="B0493F"/>
                </a:solidFill>
                <a:latin typeface="Microsoft YaHei"/>
                <a:ea typeface="Microsoft YaHei"/>
              </a:rPr>
              <a:t>一句话主旨：socket 把全球 IP 因特网上的进程通信抽象成可用 Unix I/O 操作的连接端点。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APP Report">
  <a:themeElements>
    <a:clrScheme name="CSAPP">
      <a:dk1>
        <a:srgbClr val="172033"/>
      </a:dk1>
      <a:lt1>
        <a:srgbClr val="FFFFFF"/>
      </a:lt1>
      <a:dk2>
        <a:srgbClr val="52627A"/>
      </a:dk2>
      <a:lt2>
        <a:srgbClr val="F7F8FB"/>
      </a:lt2>
      <a:accent1>
        <a:srgbClr val="2D5F9A"/>
      </a:accent1>
      <a:accent2>
        <a:srgbClr val="2F7D4C"/>
      </a:accent2>
      <a:accent3>
        <a:srgbClr val="A36C16"/>
      </a:accent3>
      <a:accent4>
        <a:srgbClr val="6D4CA5"/>
      </a:accent4>
      <a:accent5>
        <a:srgbClr val="B0493F"/>
      </a:accent5>
      <a:accent6>
        <a:srgbClr val="52627A"/>
      </a:accent6>
      <a:hlink>
        <a:srgbClr val="2D5F9A"/>
      </a:hlink>
      <a:folHlink>
        <a:srgbClr val="6D4CA5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simple">
      <a:fillStyleLst>
        <a:solidFill>
          <a:schemeClr val="phClr"/>
        </a:solidFill>
      </a:fillStyleLst>
      <a:lnStyleLst>
        <a:ln w="160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